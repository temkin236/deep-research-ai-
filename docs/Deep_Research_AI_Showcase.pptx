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FFFEFC"/>
          </a:solidFill>
          <a:ln w="19050">
            <a:solidFill>
              <a:srgbClr val="E5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731520"/>
            <a:ext cx="10728655" cy="109728"/>
          </a:xfrm>
          <a:prstGeom prst="rect">
            <a:avLst/>
          </a:prstGeom>
          <a:solidFill>
            <a:srgbClr val="B89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0" y="10058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9B785B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005840"/>
            <a:ext cx="8961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32B25"/>
                </a:solidFill>
              </a:defRPr>
            </a:pPr>
            <a:r>
              <a:t>Deep Research AI</a:t>
            </a:r>
          </a:p>
          <a:p>
            <a:pPr>
              <a:spcBef>
                <a:spcPts val="400"/>
              </a:spcBef>
              <a:defRPr sz="1400">
                <a:solidFill>
                  <a:srgbClr val="75685D"/>
                </a:solidFill>
              </a:defRPr>
            </a:pPr>
            <a:r>
              <a:t>Autonomous Multi-Agent Research Platform with Verified Citations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9875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Full-Stack AI Architecture: LangGraph, FastAPI, ChromaDB, and React</a:t>
            </a:r>
          </a:p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Decoupled 5-Agent Pipeline: Planning, Researching, Analyzing, Verifying, Reporting</a:t>
            </a:r>
          </a:p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Deterministic Grounding: Shared Evidence Registry eliminates hallucinations</a:t>
            </a:r>
          </a:p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Executive Warm-Ivory UI: Designed for high-clarity technical &amp; market research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FFFEFC"/>
          </a:solidFill>
          <a:ln w="19050">
            <a:solidFill>
              <a:srgbClr val="E5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731520"/>
            <a:ext cx="10728655" cy="109728"/>
          </a:xfrm>
          <a:prstGeom prst="rect">
            <a:avLst/>
          </a:prstGeom>
          <a:solidFill>
            <a:srgbClr val="B89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0" y="10058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9B785B"/>
                </a:solidFill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005840"/>
            <a:ext cx="8961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32B25"/>
                </a:solidFill>
              </a:defRPr>
            </a:pPr>
            <a:r>
              <a:t>The Problem Statement</a:t>
            </a:r>
          </a:p>
          <a:p>
            <a:pPr>
              <a:spcBef>
                <a:spcPts val="400"/>
              </a:spcBef>
              <a:defRPr sz="1400">
                <a:solidFill>
                  <a:srgbClr val="75685D"/>
                </a:solidFill>
              </a:defRPr>
            </a:pPr>
            <a:r>
              <a:t>Why Standard LLM Chat Assistants Fail at In-Depth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9875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Hallucinated Citations: LLMs fabricate academic papers, non-existent authors, and dead URLs</a:t>
            </a:r>
          </a:p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Unbounded Monolithic Reasoning: Single prompts lack the ability to self-correct or cross-verify</a:t>
            </a:r>
          </a:p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Superficial Web Summaries: General search tools scrape high-level snippets without deep synthesis</a:t>
            </a:r>
          </a:p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Zero Auditability: Readers cannot distinguish grounded facts from model parameter assumptions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FFFEFC"/>
          </a:solidFill>
          <a:ln w="19050">
            <a:solidFill>
              <a:srgbClr val="E5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731520"/>
            <a:ext cx="10728655" cy="109728"/>
          </a:xfrm>
          <a:prstGeom prst="rect">
            <a:avLst/>
          </a:prstGeom>
          <a:solidFill>
            <a:srgbClr val="B89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0" y="10058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9B785B"/>
                </a:solidFill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005840"/>
            <a:ext cx="8961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32B25"/>
                </a:solidFill>
              </a:defRPr>
            </a:pPr>
            <a:r>
              <a:t>The Proposed Solution</a:t>
            </a:r>
          </a:p>
          <a:p>
            <a:pPr>
              <a:spcBef>
                <a:spcPts val="400"/>
              </a:spcBef>
              <a:defRPr sz="1400">
                <a:solidFill>
                  <a:srgbClr val="75685D"/>
                </a:solidFill>
              </a:defRPr>
            </a:pPr>
            <a:r>
              <a:t>Decoupled Multi-Agent Architecture with Strict Citation Boundaries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9875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Specialized Agent Roles: Separate planning from research, analysis, and adversarial verification</a:t>
            </a:r>
          </a:p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Shared Evidence Registry: Every retrieved passage is registered, normalized, and indexed</a:t>
            </a:r>
          </a:p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Deterministic Citation Validator: Parses generated reports and strips any ungrounded citation</a:t>
            </a:r>
          </a:p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Real-Time SSE Workspace: Complete transparency into agent thoughts, search queries, and findings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FFFEFC"/>
          </a:solidFill>
          <a:ln w="19050">
            <a:solidFill>
              <a:srgbClr val="E5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731520"/>
            <a:ext cx="10728655" cy="109728"/>
          </a:xfrm>
          <a:prstGeom prst="rect">
            <a:avLst/>
          </a:prstGeom>
          <a:solidFill>
            <a:srgbClr val="B89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0" y="10058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9B785B"/>
                </a:solidFill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005840"/>
            <a:ext cx="8961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32B25"/>
                </a:solidFill>
              </a:defRPr>
            </a:pPr>
            <a:r>
              <a:t>Technology Stack</a:t>
            </a:r>
          </a:p>
          <a:p>
            <a:pPr>
              <a:spcBef>
                <a:spcPts val="400"/>
              </a:spcBef>
              <a:defRPr sz="1400">
                <a:solidFill>
                  <a:srgbClr val="75685D"/>
                </a:solidFill>
              </a:defRPr>
            </a:pPr>
            <a:r>
              <a:t>Production-Grade Engineering across Backend and 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9875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Backend Framework: FastAPI (Python 3.12) with asynchronous worker execution</a:t>
            </a:r>
          </a:p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Agent Orchestration: LangGraph StateGraph with conditional verification routing</a:t>
            </a:r>
          </a:p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Model &amp; Search Adapters: Google Gemini API (default), OpenAI adapter, DuckDuckGo &amp; Tavily</a:t>
            </a:r>
          </a:p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Persistence &amp; RAG: PostgreSQL (relational), Alembic (migrations), and ChromaDB (vectors)</a:t>
            </a:r>
          </a:p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Frontend Stack: React 18, Vite, TypeScript, Tailwind CSS, TanStack Query, and Lucide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FFFEFC"/>
          </a:solidFill>
          <a:ln w="19050">
            <a:solidFill>
              <a:srgbClr val="E5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731520"/>
            <a:ext cx="10728655" cy="109728"/>
          </a:xfrm>
          <a:prstGeom prst="rect">
            <a:avLst/>
          </a:prstGeom>
          <a:solidFill>
            <a:srgbClr val="B89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0" y="10058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9B785B"/>
                </a:solidFill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005840"/>
            <a:ext cx="8961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32B25"/>
                </a:solidFill>
              </a:defRPr>
            </a:pPr>
            <a:r>
              <a:t>System Architecture Diagram</a:t>
            </a:r>
          </a:p>
          <a:p>
            <a:pPr>
              <a:spcBef>
                <a:spcPts val="400"/>
              </a:spcBef>
              <a:defRPr sz="1400">
                <a:solidFill>
                  <a:srgbClr val="75685D"/>
                </a:solidFill>
              </a:defRPr>
            </a:pPr>
            <a:r>
              <a:t>End-to-End Component Interaction and Egress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9875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Client Layer: React SPA subscribing to Server-Sent Events (SSE) with reconnect resilience</a:t>
            </a:r>
          </a:p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API Gateway: FastAPI routing /api/v1/research and /api/v1/documents</a:t>
            </a:r>
          </a:p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Worker Boundary: Async LangGraph stateful execution in worker threads</a:t>
            </a:r>
          </a:p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Security Egress Layer: Strict SSRF network filter blocking private subnets (RFC-1918) and metadata IPs</a:t>
            </a:r>
          </a:p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Data Layer: SQLAlchemy models backed by PostgreSQL / SQLite + ChromaDB vector persistence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FFFEFC"/>
          </a:solidFill>
          <a:ln w="19050">
            <a:solidFill>
              <a:srgbClr val="E5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731520"/>
            <a:ext cx="10728655" cy="109728"/>
          </a:xfrm>
          <a:prstGeom prst="rect">
            <a:avLst/>
          </a:prstGeom>
          <a:solidFill>
            <a:srgbClr val="B89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0" y="10058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9B785B"/>
                </a:solidFill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005840"/>
            <a:ext cx="8961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32B25"/>
                </a:solidFill>
              </a:defRPr>
            </a:pPr>
            <a:r>
              <a:t>The 5-Agent Multi-Agent Workflow</a:t>
            </a:r>
          </a:p>
          <a:p>
            <a:pPr>
              <a:spcBef>
                <a:spcPts val="400"/>
              </a:spcBef>
              <a:defRPr sz="1400">
                <a:solidFill>
                  <a:srgbClr val="75685D"/>
                </a:solidFill>
              </a:defRPr>
            </a:pPr>
            <a:r>
              <a:t>Structured Collaboration Engineered in LangGraph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9875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1. Research Planner: Dissects inquiries into 3-4 subquestions and targeted queries</a:t>
            </a:r>
          </a:p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2. Researcher Agent: Gathers live web snippets and queries ChromaDB for user documents</a:t>
            </a:r>
          </a:p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3. Analyst Agent: Evaluates evidence, isolates consensus, and tags conflicting trade-offs</a:t>
            </a:r>
          </a:p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4. Verification Agent: Fact-checks assertions against evidence registry with conditional retry loop</a:t>
            </a:r>
          </a:p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5. Report Writer Agent: Compiles publication-quality markdown report with numbered citations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FFFEFC"/>
          </a:solidFill>
          <a:ln w="19050">
            <a:solidFill>
              <a:srgbClr val="E5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731520"/>
            <a:ext cx="10728655" cy="109728"/>
          </a:xfrm>
          <a:prstGeom prst="rect">
            <a:avLst/>
          </a:prstGeom>
          <a:solidFill>
            <a:srgbClr val="B89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0" y="10058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9B785B"/>
                </a:solidFill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005840"/>
            <a:ext cx="8961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32B25"/>
                </a:solidFill>
              </a:defRPr>
            </a:pPr>
            <a:r>
              <a:t>Evidence Registry &amp; Citation Engine</a:t>
            </a:r>
          </a:p>
          <a:p>
            <a:pPr>
              <a:spcBef>
                <a:spcPts val="400"/>
              </a:spcBef>
              <a:defRPr sz="1400">
                <a:solidFill>
                  <a:srgbClr val="75685D"/>
                </a:solidFill>
              </a:defRPr>
            </a:pPr>
            <a:r>
              <a:t>Eliminating Hallucinations Through Deterministic Grounding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9875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Source Registration: URLs are normalized, deduplicated, and given persistent indices [1], [2]</a:t>
            </a:r>
          </a:p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Claim-to-Evidence Association: Every finding explicitly links back to excerpt source IDs</a:t>
            </a:r>
          </a:p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Citation Validator: Scans report text, ensures every bracketed index exists in the registry</a:t>
            </a:r>
          </a:p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Automatic Pruning: Hallucinated or non-existent citations are stripped or flagged before render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FFFEFC"/>
          </a:solidFill>
          <a:ln w="19050">
            <a:solidFill>
              <a:srgbClr val="E5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731520"/>
            <a:ext cx="10728655" cy="109728"/>
          </a:xfrm>
          <a:prstGeom prst="rect">
            <a:avLst/>
          </a:prstGeom>
          <a:solidFill>
            <a:srgbClr val="B89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0" y="10058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9B785B"/>
                </a:solidFill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005840"/>
            <a:ext cx="8961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32B25"/>
                </a:solidFill>
              </a:defRPr>
            </a:pPr>
            <a:r>
              <a:t>Document RAG Integration</a:t>
            </a:r>
          </a:p>
          <a:p>
            <a:pPr>
              <a:spcBef>
                <a:spcPts val="400"/>
              </a:spcBef>
              <a:defRPr sz="1400">
                <a:solidFill>
                  <a:srgbClr val="75685D"/>
                </a:solidFill>
              </a:defRPr>
            </a:pPr>
            <a:r>
              <a:t>Fusing Internal Private Knowledge with Live Web 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9875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Multi-Format Ingestion: Supports PDF, DOCX, Markdown (.md), and plain text (.txt)</a:t>
            </a:r>
          </a:p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Recursive Chunking: 1,000-character windows with 200-character overlap for context coherence</a:t>
            </a:r>
          </a:p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Vector Similarity Search: Persistent ChromaDB collection queries top-k relevant chunks</a:t>
            </a:r>
          </a:p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Unified Evidence Pipeline: Document passages receive internal URIs and compete equally in reports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FFFEFC"/>
          </a:solidFill>
          <a:ln w="19050">
            <a:solidFill>
              <a:srgbClr val="E5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731520"/>
            <a:ext cx="10728655" cy="109728"/>
          </a:xfrm>
          <a:prstGeom prst="rect">
            <a:avLst/>
          </a:prstGeom>
          <a:solidFill>
            <a:srgbClr val="B89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0" y="10058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9B785B"/>
                </a:solidFill>
              </a:defRPr>
            </a:pPr>
            <a: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005840"/>
            <a:ext cx="8961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32B25"/>
                </a:solidFill>
              </a:defRPr>
            </a:pPr>
            <a:r>
              <a:t>User Interface &amp; Experience</a:t>
            </a:r>
          </a:p>
          <a:p>
            <a:pPr>
              <a:spcBef>
                <a:spcPts val="400"/>
              </a:spcBef>
              <a:defRPr sz="1400">
                <a:solidFill>
                  <a:srgbClr val="75685D"/>
                </a:solidFill>
              </a:defRPr>
            </a:pPr>
            <a:r>
              <a:t>Warm Ivory, Cream, and Light-Brown Executive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9875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Executive Aesthetics: Custom HSL palette featuring warm ivory (#FAF7F2) and light brown (#B89576)</a:t>
            </a:r>
          </a:p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Live Research Workspace: Real-time progress bar, agent timeline, and live source cards</a:t>
            </a:r>
          </a:p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Interactive Report View: Safe Markdown rendering, clickable citation chips, and comparison tables</a:t>
            </a:r>
          </a:p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Comprehensive Exporting: Raw Markdown copy, .md file download, and print-friendly formatting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FFFEFC"/>
          </a:solidFill>
          <a:ln w="19050">
            <a:solidFill>
              <a:srgbClr val="E5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731520"/>
            <a:ext cx="10728655" cy="109728"/>
          </a:xfrm>
          <a:prstGeom prst="rect">
            <a:avLst/>
          </a:prstGeom>
          <a:solidFill>
            <a:srgbClr val="B89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0" y="10058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9B785B"/>
                </a:solidFill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005840"/>
            <a:ext cx="8961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32B25"/>
                </a:solidFill>
              </a:defRPr>
            </a:pPr>
            <a:r>
              <a:t>Testing &amp; Security Hardening</a:t>
            </a:r>
          </a:p>
          <a:p>
            <a:pPr>
              <a:spcBef>
                <a:spcPts val="400"/>
              </a:spcBef>
              <a:defRPr sz="1400">
                <a:solidFill>
                  <a:srgbClr val="75685D"/>
                </a:solidFill>
              </a:defRPr>
            </a:pPr>
            <a:r>
              <a:t>Verified Quality Across All Tiers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9875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Backend Testing: 18 passing pytest tests covering security, agents, RAG, and API endpoints</a:t>
            </a:r>
          </a:p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Frontend Testing: Vitest suite verifying Navbar, ProgressIndicator, and SourceCards</a:t>
            </a:r>
          </a:p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SSRF Protection: Mandatory IP checks block loopbacks, AWS/GCP metadata IPs, and local subnets</a:t>
            </a:r>
          </a:p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Prompt Injection Defense: Untrusted context framing markers neutralize malicious instructions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FFFEFC"/>
          </a:solidFill>
          <a:ln w="19050">
            <a:solidFill>
              <a:srgbClr val="E5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731520"/>
            <a:ext cx="10728655" cy="109728"/>
          </a:xfrm>
          <a:prstGeom prst="rect">
            <a:avLst/>
          </a:prstGeom>
          <a:solidFill>
            <a:srgbClr val="B89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0" y="10058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9B785B"/>
                </a:solidFill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005840"/>
            <a:ext cx="8961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32B25"/>
                </a:solidFill>
              </a:defRPr>
            </a:pPr>
            <a:r>
              <a:t>Production Deployment Architecture</a:t>
            </a:r>
          </a:p>
          <a:p>
            <a:pPr>
              <a:spcBef>
                <a:spcPts val="400"/>
              </a:spcBef>
              <a:defRPr sz="1400">
                <a:solidFill>
                  <a:srgbClr val="75685D"/>
                </a:solidFill>
              </a:defRPr>
            </a:pPr>
            <a:r>
              <a:t>Containerized &amp; Cloud-Ready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9875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Multi-Container Docker Compose: Pre-configured services for Frontend, Backend, and PostgreSQL</a:t>
            </a:r>
          </a:p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Static Frontend Hosting: Nginx Alpine container serving built React bundles with SPA fallback</a:t>
            </a:r>
          </a:p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Stateless Backend + Persistent Volumes: Mounts for ChromaDB vectorstore and uploaded documents</a:t>
            </a:r>
          </a:p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Automated Migrations: Alembic migrations execute automatically on container startup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FFFEFC"/>
          </a:solidFill>
          <a:ln w="19050">
            <a:solidFill>
              <a:srgbClr val="E5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731520"/>
            <a:ext cx="10728655" cy="109728"/>
          </a:xfrm>
          <a:prstGeom prst="rect">
            <a:avLst/>
          </a:prstGeom>
          <a:solidFill>
            <a:srgbClr val="B89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0" y="10058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9B785B"/>
                </a:solidFill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005840"/>
            <a:ext cx="8961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32B25"/>
                </a:solidFill>
              </a:defRPr>
            </a:pPr>
            <a:r>
              <a:t>Live Demonstration Walkthrough</a:t>
            </a:r>
          </a:p>
          <a:p>
            <a:pPr>
              <a:spcBef>
                <a:spcPts val="400"/>
              </a:spcBef>
              <a:defRPr sz="1400">
                <a:solidFill>
                  <a:srgbClr val="75685D"/>
                </a:solidFill>
              </a:defRPr>
            </a:pPr>
            <a:r>
              <a:t>Validating the End-to-End Pipeline in Real-Time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9875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1. Submitting inquiry: 'Compare LangGraph, CrewAI, and PydanticAI for production AI'</a:t>
            </a:r>
          </a:p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2. Live Workspace: Observing the Planner, Researcher, and Verifier timeline events via SSE</a:t>
            </a:r>
          </a:p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3. Source Discovery: Examining live captured source cards and confidence ratings</a:t>
            </a:r>
          </a:p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4. Reading Report: Reviewing comparison tables, recommendations, and verified citations</a:t>
            </a:r>
          </a:p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5. Export: Downloading markdown dossier and validating reference integrity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FFFEFC"/>
          </a:solidFill>
          <a:ln w="19050">
            <a:solidFill>
              <a:srgbClr val="E5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731520"/>
            <a:ext cx="10728655" cy="109728"/>
          </a:xfrm>
          <a:prstGeom prst="rect">
            <a:avLst/>
          </a:prstGeom>
          <a:solidFill>
            <a:srgbClr val="B89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0" y="10058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9B785B"/>
                </a:solidFill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005840"/>
            <a:ext cx="8961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32B25"/>
                </a:solidFill>
              </a:defRPr>
            </a:pPr>
            <a:r>
              <a:t>Limitations &amp; Lessons Learned</a:t>
            </a:r>
          </a:p>
          <a:p>
            <a:pPr>
              <a:spcBef>
                <a:spcPts val="400"/>
              </a:spcBef>
              <a:defRPr sz="1400">
                <a:solidFill>
                  <a:srgbClr val="75685D"/>
                </a:solidFill>
              </a:defRPr>
            </a:pPr>
            <a:r>
              <a:t>Transparent System Boundaries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9875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Paywall &amp; Captcha Boundaries: Authenticated or bot-blocked sites cannot be crawled autonomously</a:t>
            </a:r>
          </a:p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Scanned Document Handling: Pure raster scans without OCR text layers are cleanly rejected</a:t>
            </a:r>
          </a:p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Consensus Divergence: Highly disputed technical or political queries highlight divergence rather than picking winners</a:t>
            </a:r>
          </a:p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Cost &amp; Latency Bounds: Hard caps on iterations prevent runaway LLM API consumption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FFFEFC"/>
          </a:solidFill>
          <a:ln w="19050">
            <a:solidFill>
              <a:srgbClr val="E5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731520"/>
            <a:ext cx="10728655" cy="109728"/>
          </a:xfrm>
          <a:prstGeom prst="rect">
            <a:avLst/>
          </a:prstGeom>
          <a:solidFill>
            <a:srgbClr val="B89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0" y="10058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9B785B"/>
                </a:solidFill>
              </a:defRPr>
            </a:pPr>
            <a: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005840"/>
            <a:ext cx="8961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32B25"/>
                </a:solidFill>
              </a:defRPr>
            </a:pPr>
            <a:r>
              <a:t>Future Roadmap</a:t>
            </a:r>
          </a:p>
          <a:p>
            <a:pPr>
              <a:spcBef>
                <a:spcPts val="400"/>
              </a:spcBef>
              <a:defRPr sz="1400">
                <a:solidFill>
                  <a:srgbClr val="75685D"/>
                </a:solidFill>
              </a:defRPr>
            </a:pPr>
            <a:r>
              <a:t>Scaling Multi-Agent Research Capabilities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9875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Headless Browser Crawling: Integrate Playwright workers for client-side JavaScript applications</a:t>
            </a:r>
          </a:p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Distributed Task Queues: Scale beyond in-memory asyncio to Redis + Celery/Temporal workers</a:t>
            </a:r>
          </a:p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Hybrid Dense-Sparse RAG: Combine BM25 lexical search with dense vector embeddings</a:t>
            </a:r>
          </a:p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Interactive Human-in-the-Loop: Allow users to review and steer the research plan before research starts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FFFEFC"/>
          </a:solidFill>
          <a:ln w="19050">
            <a:solidFill>
              <a:srgbClr val="E5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731520"/>
            <a:ext cx="10728655" cy="109728"/>
          </a:xfrm>
          <a:prstGeom prst="rect">
            <a:avLst/>
          </a:prstGeom>
          <a:solidFill>
            <a:srgbClr val="B89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0" y="10058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9B785B"/>
                </a:solidFill>
              </a:defRPr>
            </a:pPr>
            <a: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005840"/>
            <a:ext cx="8961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32B25"/>
                </a:solidFill>
              </a:defRPr>
            </a:pPr>
            <a:r>
              <a:t>Conclusion &amp; Showcase Summary</a:t>
            </a:r>
          </a:p>
          <a:p>
            <a:pPr>
              <a:spcBef>
                <a:spcPts val="400"/>
              </a:spcBef>
              <a:defRPr sz="1400">
                <a:solidFill>
                  <a:srgbClr val="75685D"/>
                </a:solidFill>
              </a:defRPr>
            </a:pPr>
            <a:r>
              <a:t>A Commercial-Ready Blueprint for Verifiable AI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9875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Complete Full-Stack Application built from scratch with clean architectural separation</a:t>
            </a:r>
          </a:p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100% Verified Multi-Agent Orchestration via LangGraph StateGraph</a:t>
            </a:r>
          </a:p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Authentic Evidence Grounding with zero hallucinated citations</a:t>
            </a:r>
          </a:p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Production-tested, containerized, documented, and ready for deployment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